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24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Sales by Region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Region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667-4B98-90F1-BAB2FE3A02C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667-4B98-90F1-BAB2FE3A02CD}"/>
              </c:ext>
            </c:extLst>
          </c:dPt>
          <c:dPt>
            <c:idx val="2"/>
            <c:invertIfNegative val="0"/>
            <c:bubble3D val="0"/>
            <c:spPr>
              <a:solidFill>
                <a:srgbClr val="FFB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667-4B98-90F1-BAB2FE3A02CD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667-4B98-90F1-BAB2FE3A02CD}"/>
              </c:ext>
            </c:extLst>
          </c:dPt>
          <c:dLbls>
            <c:numFmt formatCode="\$#,##0,\K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710219.68</c:v>
                </c:pt>
                <c:pt idx="1">
                  <c:v>669518.73</c:v>
                </c:pt>
                <c:pt idx="2">
                  <c:v>492646.91</c:v>
                </c:pt>
                <c:pt idx="3">
                  <c:v>389151.46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667-4B98-90F1-BAB2FE3A02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Sales Share by Category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BD9-411E-9A1E-907374DFDFA6}"/>
              </c:ext>
            </c:extLst>
          </c:dPt>
          <c:dPt>
            <c:idx val="1"/>
            <c:bubble3D val="0"/>
            <c:spPr>
              <a:solidFill>
                <a:srgbClr val="FFB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D9-411E-9A1E-907374DFDFA6}"/>
              </c:ext>
            </c:extLst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D9-411E-9A1E-907374DFDFA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D9-411E-9A1E-907374DFDFA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BD9-411E-9A1E-907374DFDFA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BD9-411E-9A1E-907374DFDFA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827455.87</c:v>
                </c:pt>
                <c:pt idx="1">
                  <c:v>728658.58</c:v>
                </c:pt>
                <c:pt idx="2">
                  <c:v>705422.33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D9-411E-9A1E-907374DFD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libri"/>
              </a:rPr>
              <a:t>Top 5 Sub-Categories (USD)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Sub-Category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\$#,##0,\K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Phones</c:v>
                </c:pt>
                <c:pt idx="1">
                  <c:v>Chairs</c:v>
                </c:pt>
                <c:pt idx="2">
                  <c:v>Storage</c:v>
                </c:pt>
                <c:pt idx="3">
                  <c:v>Tables</c:v>
                </c:pt>
                <c:pt idx="4">
                  <c:v>Binders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327782.45</c:v>
                </c:pt>
                <c:pt idx="1">
                  <c:v>322822.73</c:v>
                </c:pt>
                <c:pt idx="2">
                  <c:v>219343.39</c:v>
                </c:pt>
                <c:pt idx="3">
                  <c:v>202810.63</c:v>
                </c:pt>
                <c:pt idx="4">
                  <c:v>200028.79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05-49C4-A05C-B972D20119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Aggregate Sales by Order Month (2015–2018)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ln w="31750" cap="flat">
              <a:solidFill>
                <a:srgbClr val="FFB4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FB400"/>
              </a:solidFill>
              <a:ln w="9525" cap="flat">
                <a:solidFill>
                  <a:srgbClr val="FFB40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94291.63</c:v>
                </c:pt>
                <c:pt idx="1">
                  <c:v>59371.12</c:v>
                </c:pt>
                <c:pt idx="2">
                  <c:v>197573.59</c:v>
                </c:pt>
                <c:pt idx="3">
                  <c:v>136283</c:v>
                </c:pt>
                <c:pt idx="4">
                  <c:v>154086.72</c:v>
                </c:pt>
                <c:pt idx="5">
                  <c:v>145837.51999999999</c:v>
                </c:pt>
                <c:pt idx="6">
                  <c:v>145535.69</c:v>
                </c:pt>
                <c:pt idx="7">
                  <c:v>157315.93</c:v>
                </c:pt>
                <c:pt idx="8">
                  <c:v>300103.40999999997</c:v>
                </c:pt>
                <c:pt idx="9">
                  <c:v>199496.29</c:v>
                </c:pt>
                <c:pt idx="10">
                  <c:v>350161.71</c:v>
                </c:pt>
                <c:pt idx="11">
                  <c:v>321480.17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97-4B7C-9C2F-6C3BBE831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Sales Share by Customer Segment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08-414A-B497-721A3CEC8534}"/>
              </c:ext>
            </c:extLst>
          </c:dPt>
          <c:dPt>
            <c:idx val="1"/>
            <c:bubble3D val="0"/>
            <c:spPr>
              <a:solidFill>
                <a:srgbClr val="FFB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08-414A-B497-721A3CEC8534}"/>
              </c:ext>
            </c:extLst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08-414A-B497-721A3CEC853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08-414A-B497-721A3CEC853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08-414A-B497-721A3CEC853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08-414A-B497-721A3CEC853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1148060.53</c:v>
                </c:pt>
                <c:pt idx="1">
                  <c:v>688494.07</c:v>
                </c:pt>
                <c:pt idx="2">
                  <c:v>424982.18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08-414A-B497-721A3CEC85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5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Sales by Shipping Mode (USD)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Ship Mode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9A2-484E-839D-6898702F6E78}"/>
              </c:ext>
            </c:extLst>
          </c:dPt>
          <c:dPt>
            <c:idx val="1"/>
            <c:invertIfNegative val="0"/>
            <c:bubble3D val="0"/>
            <c:spPr>
              <a:solidFill>
                <a:srgbClr val="FFB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A2-484E-839D-6898702F6E78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A2-484E-839D-6898702F6E78}"/>
              </c:ext>
            </c:extLst>
          </c:dPt>
          <c:dPt>
            <c:idx val="3"/>
            <c:invertIfNegative val="0"/>
            <c:bubble3D val="0"/>
            <c:spPr>
              <a:solidFill>
                <a:srgbClr val="9FB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A2-484E-839D-6898702F6E78}"/>
              </c:ext>
            </c:extLst>
          </c:dPt>
          <c:dLbls>
            <c:numFmt formatCode="\$#,##0,\K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Standard Class</c:v>
                </c:pt>
                <c:pt idx="1">
                  <c:v>Second Class</c:v>
                </c:pt>
                <c:pt idx="2">
                  <c:v>First Class</c:v>
                </c:pt>
                <c:pt idx="3">
                  <c:v>Same 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1340831.31</c:v>
                </c:pt>
                <c:pt idx="1">
                  <c:v>449914.18</c:v>
                </c:pt>
                <c:pt idx="2">
                  <c:v>345572.26</c:v>
                </c:pt>
                <c:pt idx="3">
                  <c:v>125219.04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A2-484E-839D-6898702F6E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497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5317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637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657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41303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934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2392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146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9929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7290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819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5237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48760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6929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434232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4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9850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527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63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32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chart" Target="../charts/chart5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69718" y="0"/>
            <a:ext cx="3840480" cy="384048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6995160" y="3703320"/>
            <a:ext cx="2926080" cy="292608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2743200"/>
          </a:xfrm>
          <a:prstGeom prst="ellipse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6" name="Image 0" descr="/home/claude/deck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1" y="101544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PROJECT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Regional, Category &amp; Customer Sales Performance (2015 – 2018)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FFB4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Management &amp; Panel Review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Superstore Sales Records  •  9,800 Orders  •  United States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05079F-9FE6-4699-5741-6A26B2A33C96}"/>
              </a:ext>
            </a:extLst>
          </p:cNvPr>
          <p:cNvSpPr txBox="1"/>
          <p:nvPr/>
        </p:nvSpPr>
        <p:spPr>
          <a:xfrm>
            <a:off x="866274" y="5438894"/>
            <a:ext cx="3118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doni MT" panose="02070603080606020203" pitchFamily="18" charset="0"/>
              </a:rPr>
              <a:t>by     DEBTANU DE</a:t>
            </a:r>
            <a:endParaRPr lang="en-IN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394960" cy="1316736"/>
          </a:xfrm>
          <a:prstGeom prst="roundRect">
            <a:avLst>
              <a:gd name="adj" fmla="val 55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" y="1618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deck/icons/obj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68" y="1683868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56362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Project Objective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192938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was built and the business questions it answers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355080" y="1417320"/>
            <a:ext cx="5394960" cy="1316736"/>
          </a:xfrm>
          <a:prstGeom prst="roundRect">
            <a:avLst>
              <a:gd name="adj" fmla="val 55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56248" y="1618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ec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628" y="1683868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156362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Data Source &amp; Scope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223760" y="192938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structure, timeframe and key fields powering the model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2990088"/>
            <a:ext cx="5394960" cy="1316736"/>
          </a:xfrm>
          <a:prstGeom prst="roundRect">
            <a:avLst>
              <a:gd name="adj" fmla="val 55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04088" y="31912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deck/icons/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68" y="3256636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1363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Dashboard Architecture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71600" y="350215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pages, visuals and interactive filters in Power BI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355080" y="2990088"/>
            <a:ext cx="5394960" cy="1316736"/>
          </a:xfrm>
          <a:prstGeom prst="roundRect">
            <a:avLst>
              <a:gd name="adj" fmla="val 55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56248" y="31912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deck/icons/doll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628" y="3256636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3760" y="31363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KPI Overview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223760" y="3502152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sales, order and customer metrics at a glance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02920" y="4562856"/>
            <a:ext cx="5394960" cy="1316736"/>
          </a:xfrm>
          <a:prstGeom prst="roundRect">
            <a:avLst>
              <a:gd name="adj" fmla="val 55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04088" y="47640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home/claude/deck/icons/gl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68" y="4829404"/>
            <a:ext cx="372161" cy="37216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71600" y="47091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Regional &amp; Category Insights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1371600" y="507492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what is driving revenue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355080" y="4562856"/>
            <a:ext cx="5394960" cy="1316736"/>
          </a:xfrm>
          <a:prstGeom prst="roundRect">
            <a:avLst>
              <a:gd name="adj" fmla="val 55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56248" y="47640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/home/claude/deck/icons/tre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1628" y="4829404"/>
            <a:ext cx="372161" cy="37216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23760" y="47091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Trends, Customers &amp; Recommendations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7223760" y="507492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patterns, top accounts and next steps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 needed a single, interactive view of performance across regions, product categories and customers — replacing scattered spreadsheets with a live, drillable Power BI dashboard.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980944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8529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sales, orders and customer volume in real time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547872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41985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 and under-performing regions, categories and sub-categories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114800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9867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highest-value customers and segments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4681728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55371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faster, evidence-based decisions for management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03720" y="1417320"/>
            <a:ext cx="4800600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223760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23760" y="2240280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18" name="Image 1" descr="/home/claude/deck/icons/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140" y="2305660"/>
            <a:ext cx="372161" cy="37216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6384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$2.26M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7863840" y="2587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Tracked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223760" y="3136392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22" name="Image 2" descr="/home/claude/deck/icons/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140" y="3201772"/>
            <a:ext cx="372161" cy="37216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63840" y="30906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4,922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7863840" y="34838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223760" y="4032504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26" name="Image 3" descr="/home/claude/deck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9140" y="4097884"/>
            <a:ext cx="372161" cy="37216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863840" y="39867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863840" y="4379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223760" y="50749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Power BI Desktop using native visuals, DAX measures and interactive slicers.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Scope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" y="152704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dec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58" y="1595994"/>
            <a:ext cx="392460" cy="392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4904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371600" y="172821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Records (“train” table)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17920" y="141732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82512" y="152704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eck/icons/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458" y="1595994"/>
            <a:ext cx="392460" cy="392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4904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7086600" y="172821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 order line items across 40 fields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233172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7512" y="244144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deck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58" y="2510394"/>
            <a:ext cx="392460" cy="392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24048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371600" y="264261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2015 – December 2018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17920" y="233172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82512" y="244144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deck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458" y="2510394"/>
            <a:ext cx="392460" cy="392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24048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086600" y="264261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— 4 regions, 49 states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0292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IN THE MODEL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02920" y="388620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02920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206240" y="388620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206240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Ship Date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7909560" y="388620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909560" y="3886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02920" y="4453128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02920" y="44531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4206240" y="4453128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206240" y="44531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7909560" y="4453128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909560" y="44531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/ State / City / Region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02920" y="5020056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02920" y="50200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4206240" y="5020056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206240" y="50200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7909560" y="5020056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909560" y="50200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502920" y="5586984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02920" y="55869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(measure)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4206240" y="5586984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206240" y="55869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 / Month</a:t>
            </a:r>
            <a:endParaRPr lang="en-US" sz="1150" dirty="0"/>
          </a:p>
        </p:txBody>
      </p:sp>
      <p:sp>
        <p:nvSpPr>
          <p:cNvPr id="49" name="Shape 42"/>
          <p:cNvSpPr/>
          <p:nvPr/>
        </p:nvSpPr>
        <p:spPr>
          <a:xfrm>
            <a:off x="7909560" y="5586984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2F6FD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909560" y="55869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</a:t>
            </a:r>
            <a:endParaRPr lang="en-US" sz="1150" dirty="0"/>
          </a:p>
        </p:txBody>
      </p:sp>
      <p:sp>
        <p:nvSpPr>
          <p:cNvPr id="51" name="Text 44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REPORT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Architecture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6459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45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1305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Overview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952" y="2670048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5511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Total Sales, Total Orders, Total Customers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8952" y="3127248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0083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sales distribution by Country &amp; City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8952" y="3584448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4655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Sales by Region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58952" y="4041648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9227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Sales trend by Order Month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58952" y="4498848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43799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&amp; bar charts — Sales by Category / Sub-Category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58952" y="4956048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48371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— Top 5 Customers by Sales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58952" y="5413248"/>
            <a:ext cx="91440" cy="9144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52943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City, Ship Year, Ship Mode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63640" y="141732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92240" y="16459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FB400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0" y="1645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92240" y="21305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6519672" y="267004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6"/>
          <p:cNvSpPr/>
          <p:nvPr/>
        </p:nvSpPr>
        <p:spPr>
          <a:xfrm>
            <a:off x="6720840" y="25511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 — Total Customers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19672" y="312724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8"/>
          <p:cNvSpPr/>
          <p:nvPr/>
        </p:nvSpPr>
        <p:spPr>
          <a:xfrm>
            <a:off x="6720840" y="30083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Sales by Customer Name (top accounts)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519672" y="358444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0"/>
          <p:cNvSpPr/>
          <p:nvPr/>
        </p:nvSpPr>
        <p:spPr>
          <a:xfrm>
            <a:off x="6720840" y="34655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Sales by Segment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519672" y="404164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2"/>
          <p:cNvSpPr/>
          <p:nvPr/>
        </p:nvSpPr>
        <p:spPr>
          <a:xfrm>
            <a:off x="6720840" y="39227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Sales by Sub-Category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492240" y="52578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native visuals — fully interactive with cross-filtering across every chart, map and table.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3" name="Image 0" descr="/home/claude/deck/icons/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Overview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1C4D"/>
          </a:solidFill>
          <a:ln w="12700">
            <a:solidFill>
              <a:srgbClr val="323B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2240280"/>
            <a:ext cx="640080" cy="64008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8" name="Image 1" descr="/home/claude/deck/icons/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10" y="2323490"/>
            <a:ext cx="473659" cy="473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3200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$2.26M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502920" y="39319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42702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FY2015 – FY2018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64992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1C4D"/>
          </a:solidFill>
          <a:ln w="12700">
            <a:solidFill>
              <a:srgbClr val="323B7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47972" y="2240280"/>
            <a:ext cx="640080" cy="64008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14" name="Image 2" descr="/home/claude/deck/icons/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182" y="2323490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64992" y="3200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4,922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3364992" y="39319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64992" y="42702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 line items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27064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1C4D"/>
          </a:solidFill>
          <a:ln w="12700">
            <a:solidFill>
              <a:srgbClr val="323B7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210044" y="2240280"/>
            <a:ext cx="640080" cy="64008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20" name="Image 3" descr="/home/claude/deck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254" y="232349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7064" y="3200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793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6227064" y="39319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27064" y="42702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U.S.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089136" y="18745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61C4D"/>
          </a:solidFill>
          <a:ln w="12700">
            <a:solidFill>
              <a:srgbClr val="323B7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072116" y="2240280"/>
            <a:ext cx="640080" cy="64008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26" name="Image 4" descr="/home/claude/deck/icons/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5326" y="2323490"/>
            <a:ext cx="473659" cy="4736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89136" y="3200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$459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9089136" y="39319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089136" y="42702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0292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reflect actual order-level sales records loaded into the Power BI data model.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COMES FROM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41732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41732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2668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726680" y="21031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229" y="2150669"/>
            <a:ext cx="270662" cy="270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3880" y="206654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leads with $710K in sales — 31% of total revenue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726680" y="2971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eck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229" y="3019349"/>
            <a:ext cx="270662" cy="270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83880" y="293522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follows closely at $670K (30%)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726680" y="38404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deck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229" y="3888029"/>
            <a:ext cx="270662" cy="27066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83880" y="38039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and South together still contribute 39% of sales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7726680" y="47091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/home/claude/deck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229" y="4756709"/>
            <a:ext cx="270662" cy="27066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183880" y="467258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visual lets viewers drill from country → city level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SELLING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Sub-Category Performance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41732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126480" y="141732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3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OVER TIME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 Analysis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417320"/>
          <a:ext cx="73152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5349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sharply in September, November and December — a clear seasonal, holiday-driven buying pattern.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8092440" y="141732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32104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32104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326880" y="2057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$479.9K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32104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326880" y="25603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$459.4K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32104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326880" y="30632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$600.2K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32104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326880" y="35661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$722.1K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321040" y="4114800"/>
            <a:ext cx="3154680" cy="0"/>
          </a:xfrm>
          <a:prstGeom prst="line">
            <a:avLst/>
          </a:prstGeom>
          <a:noFill/>
          <a:ln w="12700">
            <a:solidFill>
              <a:srgbClr val="323B7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21040" y="42519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+50.5%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8321040" y="4846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growth, 2015 → 2018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BUYING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Segment Analysis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SALES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486400" cy="27432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Sean Miller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Tamara Chand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Raymond Buch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Ashbrook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$14,596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 Barton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$14,474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7091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FFB400"/>
          </a:solidFill>
          <a:ln/>
        </p:spPr>
      </p:sp>
      <p:pic>
        <p:nvPicPr>
          <p:cNvPr id="10" name="Image 1" descr="/home/claude/deck/icons/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0" y="5003140"/>
            <a:ext cx="372161" cy="372161"/>
          </a:xfrm>
          <a:prstGeom prst="rect">
            <a:avLst/>
          </a:prstGeom>
        </p:spPr>
      </p:pic>
      <p:sp>
        <p:nvSpPr>
          <p:cNvPr id="7" name="Text 6"/>
          <p:cNvSpPr/>
          <p:nvPr/>
        </p:nvSpPr>
        <p:spPr>
          <a:xfrm>
            <a:off x="1371600" y="486460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is the single highest-value customer, contributing over $25K in sales.</a:t>
            </a:r>
            <a:endParaRPr lang="en-US" sz="11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309360" y="1417320"/>
          <a:ext cx="53949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 7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Mode Insights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41732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417320"/>
            <a:ext cx="4023360" cy="457200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90956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DOMINATES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09560" y="2148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59.3%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7909560" y="2880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sales ship via Standard Class — the default, lowest-cost option for most orders.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909560" y="3840480"/>
            <a:ext cx="3337560" cy="0"/>
          </a:xfrm>
          <a:prstGeom prst="line">
            <a:avLst/>
          </a:prstGeom>
          <a:noFill/>
          <a:ln w="12700">
            <a:solidFill>
              <a:srgbClr val="323B7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40233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shipping accounts for just 5.5% of sales — an opportunity to promote faster options for high-value orders.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deck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4851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WHAT, NOW WHAT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5669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440680" cy="1307592"/>
          </a:xfrm>
          <a:prstGeom prst="roundRect">
            <a:avLst>
              <a:gd name="adj" fmla="val 559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dec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165963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7592" y="15636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the West &amp; East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307592" y="19202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regions drive 61% of all sales — protect and grow share with focused account coverage.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355080" y="1417320"/>
            <a:ext cx="5440680" cy="1307592"/>
          </a:xfrm>
          <a:prstGeom prst="roundRect">
            <a:avLst>
              <a:gd name="adj" fmla="val 559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eck/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165963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9752" y="15636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leads, but margins matter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59752" y="19202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tops category sales; pair it with Furniture bundles to lift average order value.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2926080"/>
            <a:ext cx="5440680" cy="1307592"/>
          </a:xfrm>
          <a:prstGeom prst="roundRect">
            <a:avLst>
              <a:gd name="adj" fmla="val 559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deck/icons/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316839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07592" y="307238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inventory for Q4 seasonality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07592" y="34290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Sep, Nov &amp; Dec consistently spike — align stock and staffing ahead of the holiday surge.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355080" y="2926080"/>
            <a:ext cx="5440680" cy="1307592"/>
          </a:xfrm>
          <a:prstGeom prst="roundRect">
            <a:avLst>
              <a:gd name="adj" fmla="val 559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3796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home/claude/deck/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96" y="3168396"/>
            <a:ext cx="338328" cy="3383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59752" y="307238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top accounts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59752" y="34290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customers alone contribute ~$88K — introduce a loyalty or key-account program.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02920" y="4434840"/>
            <a:ext cx="5440680" cy="1307592"/>
          </a:xfrm>
          <a:prstGeom prst="roundRect">
            <a:avLst>
              <a:gd name="adj" fmla="val 559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/home/claude/deck/icons/tru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77156"/>
            <a:ext cx="338328" cy="33832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07592" y="45811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Upsell faster shipping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307592" y="49377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5.5% of orders use Same Day — promote it for high-value or time-sensitive orders.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355080" y="4434840"/>
            <a:ext cx="5440680" cy="1307592"/>
          </a:xfrm>
          <a:prstGeom prst="roundRect">
            <a:avLst>
              <a:gd name="adj" fmla="val 5594"/>
            </a:avLst>
          </a:prstGeom>
          <a:solidFill>
            <a:srgbClr val="F2F6FD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3796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/home/claude/deck/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7396" y="4677156"/>
            <a:ext cx="338328" cy="33832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59752" y="45811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self-serve reporting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159752" y="49377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dashboard out to regional managers with row-level security by Region.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50292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Project Review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657600" cy="36576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29718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7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1160</TotalTime>
  <Words>956</Words>
  <Application>Microsoft Office PowerPoint</Application>
  <PresentationFormat>Widescreen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Bodoni MT</vt:lpstr>
      <vt:lpstr>Calibri</vt:lpstr>
      <vt:lpstr>Cambria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Debtanu De</cp:lastModifiedBy>
  <cp:revision>3</cp:revision>
  <dcterms:created xsi:type="dcterms:W3CDTF">2026-07-15T09:15:39Z</dcterms:created>
  <dcterms:modified xsi:type="dcterms:W3CDTF">2026-07-23T06:08:26Z</dcterms:modified>
</cp:coreProperties>
</file>